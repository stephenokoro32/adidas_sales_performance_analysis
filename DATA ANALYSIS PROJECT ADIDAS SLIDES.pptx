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007A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A0A0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7AC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9ED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8BDF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DD3F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AE6F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BEAFE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Men's Street
Footwear</c:v>
                  </c:pt>
                  <c:pt idx="1">
                    <c:v>Women's
Apparel</c:v>
                  </c:pt>
                  <c:pt idx="2">
                    <c:v>Men's Athletic
Footwear</c:v>
                  </c:pt>
                  <c:pt idx="3">
                    <c:v>Women's Street
Footwear</c:v>
                  </c:pt>
                  <c:pt idx="4">
                    <c:v>Men's
Apparel</c:v>
                  </c:pt>
                  <c:pt idx="5">
                    <c:v>Women's Athletic
Footwear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208.8</c:v>
                </c:pt>
                <c:pt idx="1">
                  <c:v>179</c:v>
                </c:pt>
                <c:pt idx="2">
                  <c:v>153.7</c:v>
                </c:pt>
                <c:pt idx="3">
                  <c:v>128</c:v>
                </c:pt>
                <c:pt idx="4">
                  <c:v>123.7</c:v>
                </c:pt>
                <c:pt idx="5">
                  <c:v>106.6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A0A0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AFAF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007A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A0A0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7AC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9ED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8BDF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DD3F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AE6FD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West</c:v>
                  </c:pt>
                  <c:pt idx="1">
                    <c:v>Northeast</c:v>
                  </c:pt>
                  <c:pt idx="2">
                    <c:v>Southeast</c:v>
                  </c:pt>
                  <c:pt idx="3">
                    <c:v>South</c:v>
                  </c:pt>
                  <c:pt idx="4">
                    <c:v>Midwest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269.9</c:v>
                </c:pt>
                <c:pt idx="1">
                  <c:v>186.3</c:v>
                </c:pt>
                <c:pt idx="2">
                  <c:v>163.2</c:v>
                </c:pt>
                <c:pt idx="3">
                  <c:v>144.7</c:v>
                </c:pt>
                <c:pt idx="4">
                  <c:v>135.8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A0A0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AFAF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007A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A0A0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7AC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7AC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8BDF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DD3F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AE6F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BEAFE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West Gear</c:v>
                  </c:pt>
                  <c:pt idx="1">
                    <c:v>Foot Locker</c:v>
                  </c:pt>
                  <c:pt idx="2">
                    <c:v>Sports Direct</c:v>
                  </c:pt>
                  <c:pt idx="3">
                    <c:v>Kohl's</c:v>
                  </c:pt>
                  <c:pt idx="4">
                    <c:v>Amazon</c:v>
                  </c:pt>
                  <c:pt idx="5">
                    <c:v>Walmart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243</c:v>
                </c:pt>
                <c:pt idx="1">
                  <c:v>220.1</c:v>
                </c:pt>
                <c:pt idx="2">
                  <c:v>182.5</c:v>
                </c:pt>
                <c:pt idx="3">
                  <c:v>102.1</c:v>
                </c:pt>
                <c:pt idx="4">
                  <c:v>77.7</c:v>
                </c:pt>
                <c:pt idx="5">
                  <c:v>74.4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A0A0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AFAFA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7AC0"/>
              </a:solidFill>
              <a:effectLst/>
            </c:spPr>
          </c:dPt>
          <c:dPt>
            <c:idx val="1"/>
            <c:bubble3D val="0"/>
            <c:spPr>
              <a:solidFill>
                <a:srgbClr val="38BDF8"/>
              </a:solidFill>
              <a:effectLst/>
            </c:spPr>
          </c:dPt>
          <c:dPt>
            <c:idx val="2"/>
            <c:bubble3D val="0"/>
            <c:spPr>
              <a:solidFill>
                <a:srgbClr val="E5E7E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A0A0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A0A0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A0A0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In-Store</c:v>
                </c:pt>
                <c:pt idx="1">
                  <c:v>Outlet</c:v>
                </c:pt>
                <c:pt idx="2">
                  <c:v>Online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356.6</c:v>
                </c:pt>
                <c:pt idx="1">
                  <c:v>295.6</c:v>
                </c:pt>
                <c:pt idx="2">
                  <c:v>247.7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plotVisOnly val="1"/>
    <c:dispBlanksAs val="span"/>
  </c:chart>
  <c:spPr>
    <a:solidFill>
      <a:srgbClr val="FAFAFA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Revenue ($M)</c:v>
                </c:pt>
              </c:strCache>
            </c:strRef>
          </c:tx>
          <c:spPr>
            <a:solidFill>
              <a:srgbClr val="007AC0"/>
            </a:solidFill>
            <a:ln w="38100" cap="flat">
              <a:solidFill>
                <a:srgbClr val="007AC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7AC0"/>
              </a:solidFill>
              <a:ln w="9525" cap="flat">
                <a:solidFill>
                  <a:srgbClr val="007AC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71.5</c:v>
                </c:pt>
                <c:pt idx="1">
                  <c:v>61.1</c:v>
                </c:pt>
                <c:pt idx="2">
                  <c:v>56.8</c:v>
                </c:pt>
                <c:pt idx="3">
                  <c:v>72.3</c:v>
                </c:pt>
                <c:pt idx="4">
                  <c:v>80.5</c:v>
                </c:pt>
                <c:pt idx="5">
                  <c:v>74.7</c:v>
                </c:pt>
                <c:pt idx="6">
                  <c:v>95.5</c:v>
                </c:pt>
                <c:pt idx="7">
                  <c:v>92.2</c:v>
                </c:pt>
                <c:pt idx="8">
                  <c:v>77.7</c:v>
                </c:pt>
                <c:pt idx="9">
                  <c:v>63.9</c:v>
                </c:pt>
                <c:pt idx="10">
                  <c:v>67.9</c:v>
                </c:pt>
                <c:pt idx="11">
                  <c:v>85.8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AFA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007AC0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0"/>
            <a:ext cx="274320" cy="5143500"/>
          </a:xfrm>
          <a:prstGeom prst="rect">
            <a:avLst/>
          </a:prstGeom>
          <a:solidFill>
            <a:srgbClr val="005A9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8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ADIDAS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4389120" cy="45720"/>
          </a:xfrm>
          <a:prstGeom prst="rect">
            <a:avLst/>
          </a:prstGeom>
          <a:solidFill>
            <a:srgbClr val="007AC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54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DATA ANALYSIS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Presentation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1280160" cy="137160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108960"/>
            <a:ext cx="1280160" cy="45720"/>
          </a:xfrm>
          <a:prstGeom prst="rect">
            <a:avLst/>
          </a:prstGeom>
          <a:solidFill>
            <a:srgbClr val="007AC0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324612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$900M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94360" y="38221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965960" y="3108960"/>
            <a:ext cx="1280160" cy="137160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65960" y="3108960"/>
            <a:ext cx="1280160" cy="45720"/>
          </a:xfrm>
          <a:prstGeom prst="rect">
            <a:avLst/>
          </a:prstGeom>
          <a:solidFill>
            <a:srgbClr val="007AC0"/>
          </a:solidFill>
          <a:ln/>
        </p:spPr>
      </p:sp>
      <p:sp>
        <p:nvSpPr>
          <p:cNvPr id="14" name="Text 12"/>
          <p:cNvSpPr/>
          <p:nvPr/>
        </p:nvSpPr>
        <p:spPr>
          <a:xfrm>
            <a:off x="2011680" y="324612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$332M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011680" y="38221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383280" y="3108960"/>
            <a:ext cx="1280160" cy="137160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83280" y="3108960"/>
            <a:ext cx="1280160" cy="45720"/>
          </a:xfrm>
          <a:prstGeom prst="rect">
            <a:avLst/>
          </a:prstGeom>
          <a:solidFill>
            <a:srgbClr val="007AC0"/>
          </a:solidFill>
          <a:ln/>
        </p:spPr>
      </p:sp>
      <p:sp>
        <p:nvSpPr>
          <p:cNvPr id="18" name="Text 16"/>
          <p:cNvSpPr/>
          <p:nvPr/>
        </p:nvSpPr>
        <p:spPr>
          <a:xfrm>
            <a:off x="3429000" y="324612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36.9%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429000" y="38221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00600" y="3108960"/>
            <a:ext cx="1280160" cy="137160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0600" y="3108960"/>
            <a:ext cx="1280160" cy="45720"/>
          </a:xfrm>
          <a:prstGeom prst="rect">
            <a:avLst/>
          </a:prstGeom>
          <a:solidFill>
            <a:srgbClr val="007AC0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324612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2.48M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846320" y="38221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8640" y="4709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– 2021  |  Multi-Region  |  All Channels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A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Adidas sales performance across regions, retailers, and channels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64008" cy="1691640"/>
          </a:xfrm>
          <a:prstGeom prst="rect">
            <a:avLst/>
          </a:prstGeom>
          <a:solidFill>
            <a:srgbClr val="007AC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527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What We Analyzed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9,600+ sales records spanning 5 regions, 6 retailers, 6 product categories, and 3 sales channels across 2020–2021.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114300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143000"/>
            <a:ext cx="64008" cy="1691640"/>
          </a:xfrm>
          <a:prstGeom prst="rect">
            <a:avLst/>
          </a:prstGeom>
          <a:solidFill>
            <a:srgbClr val="007AC0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2527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Core Objectives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46320" y="1600200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revenue &amp; profitability · Identify top-performing products and regions · Uncover channel opportunities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306324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3063240"/>
            <a:ext cx="64008" cy="1691640"/>
          </a:xfrm>
          <a:prstGeom prst="rect">
            <a:avLst/>
          </a:prstGeom>
          <a:solidFill>
            <a:srgbClr val="007AC0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1729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Key Question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3520440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Adidas performing well, and where are the untapped opportunities for growth and strategic investment?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306324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3063240"/>
            <a:ext cx="64008" cy="1691640"/>
          </a:xfrm>
          <a:prstGeom prst="rect">
            <a:avLst/>
          </a:prstGeom>
          <a:solidFill>
            <a:srgbClr val="007AC0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31729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 Outcome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46320" y="3520440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recommendations to optimize retail partnerships, expand online presence, and focus regional strategies.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4956048"/>
            <a:ext cx="9144000" cy="20116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4965192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Adidas Sales Analysis  |  Capstone Project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A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Performance Indicators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summary across the full dataset — 2020 to 2021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9202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1920240" cy="54864"/>
          </a:xfrm>
          <a:prstGeom prst="rect">
            <a:avLst/>
          </a:prstGeom>
          <a:solidFill>
            <a:srgbClr val="007AC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1732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7A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$899.9M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254203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Revenue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98094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regions &amp; retailers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143000" y="3657600"/>
            <a:ext cx="365760" cy="365760"/>
          </a:xfrm>
          <a:prstGeom prst="ellipse">
            <a:avLst/>
          </a:prstGeom>
          <a:solidFill>
            <a:srgbClr val="007AC0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468880" y="1097280"/>
            <a:ext cx="19202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68880" y="1097280"/>
            <a:ext cx="192024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2560320" y="141732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$332.1M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560320" y="254203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Profit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60320" y="298094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bottom-line performance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46120" y="3657600"/>
            <a:ext cx="365760" cy="365760"/>
          </a:xfrm>
          <a:prstGeom prst="ellipse">
            <a:avLst/>
          </a:prstGeom>
          <a:solidFill>
            <a:srgbClr val="059669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0" y="1097280"/>
            <a:ext cx="19202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0" y="1097280"/>
            <a:ext cx="192024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4663440" y="141732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36.9%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4663440" y="254203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Margin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63440" y="298094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profitability ratio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349240" y="3657600"/>
            <a:ext cx="365760" cy="365760"/>
          </a:xfrm>
          <a:prstGeom prst="ellipse">
            <a:avLst/>
          </a:prstGeom>
          <a:solidFill>
            <a:srgbClr val="D97706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675120" y="1097280"/>
            <a:ext cx="19202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675120" y="1097280"/>
            <a:ext cx="192024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6766560" y="141732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2.48M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6766560" y="254203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 Sold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766560" y="298094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6 product categories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452360" y="3657600"/>
            <a:ext cx="365760" cy="365760"/>
          </a:xfrm>
          <a:prstGeom prst="ellipse">
            <a:avLst/>
          </a:prstGeom>
          <a:solidFill>
            <a:srgbClr val="7C3AED">
              <a:alpha val="2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0" y="4956048"/>
            <a:ext cx="9144000" cy="20116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" y="4965192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Adidas Sales Analysis  |  Capstone Project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A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Category Performance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breakdown by product category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051560"/>
          <a:ext cx="54864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989320" y="1051560"/>
            <a:ext cx="2834640" cy="3657600"/>
          </a:xfrm>
          <a:prstGeom prst="rect">
            <a:avLst/>
          </a:prstGeom>
          <a:solidFill>
            <a:srgbClr val="E8F4FC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989320" y="1051560"/>
            <a:ext cx="2834640" cy="347472"/>
          </a:xfrm>
          <a:prstGeom prst="rect">
            <a:avLst/>
          </a:prstGeom>
          <a:solidFill>
            <a:srgbClr val="007AC0"/>
          </a:solidFill>
          <a:ln/>
        </p:spPr>
      </p:sp>
      <p:sp>
        <p:nvSpPr>
          <p:cNvPr id="8" name="Text 5"/>
          <p:cNvSpPr/>
          <p:nvPr/>
        </p:nvSpPr>
        <p:spPr>
          <a:xfrm>
            <a:off x="6080760" y="106984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080760" y="1463040"/>
            <a:ext cx="265176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050" b="1" dirty="0">
                <a:solidFill>
                  <a:srgbClr val="005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👟 Footwear Dominates</a:t>
            </a:r>
            <a:endParaRPr lang="en-US" sz="10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Men's Street Footwear leads with $208.8M — nearly 2× the weakest category.</a:t>
            </a:r>
            <a:endParaRPr lang="en-US" sz="10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050" b="1" dirty="0">
                <a:solidFill>
                  <a:srgbClr val="005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👗 Apparel is Strong</a:t>
            </a:r>
            <a:endParaRPr lang="en-US" sz="10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Women's Apparel ($179M) outperforms Men's Apparel ($123.7M) — a notable gender gap.</a:t>
            </a:r>
            <a:endParaRPr lang="en-US" sz="10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050" b="1" dirty="0">
                <a:solidFill>
                  <a:srgbClr val="005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Women's Athletic Lags</a:t>
            </a:r>
            <a:endParaRPr lang="en-US" sz="10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$106.6M, Women's Athletic Footwear is the lowest performer. Invest in targeted campaigns.</a:t>
            </a:r>
            <a:endParaRPr lang="en-US" sz="10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050" b="1" dirty="0">
                <a:solidFill>
                  <a:srgbClr val="005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Action</a:t>
            </a:r>
            <a:endParaRPr lang="en-US" sz="10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footwear inventory and explore women's athletic as an emerging growth segment.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0" y="4956048"/>
            <a:ext cx="9144000" cy="20116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1" name="Text 8"/>
          <p:cNvSpPr/>
          <p:nvPr/>
        </p:nvSpPr>
        <p:spPr>
          <a:xfrm>
            <a:off x="274320" y="4965192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2020–2021  |  All values in USD millions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A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Regional Insights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across five U.S. regions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051560"/>
          <a:ext cx="54864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989320" y="1051560"/>
            <a:ext cx="2834640" cy="3657600"/>
          </a:xfrm>
          <a:prstGeom prst="rect">
            <a:avLst/>
          </a:prstGeom>
          <a:solidFill>
            <a:srgbClr val="E8F4FC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989320" y="1051560"/>
            <a:ext cx="2834640" cy="347472"/>
          </a:xfrm>
          <a:prstGeom prst="rect">
            <a:avLst/>
          </a:prstGeom>
          <a:solidFill>
            <a:srgbClr val="007AC0"/>
          </a:solidFill>
          <a:ln/>
        </p:spPr>
      </p:sp>
      <p:sp>
        <p:nvSpPr>
          <p:cNvPr id="8" name="Text 5"/>
          <p:cNvSpPr/>
          <p:nvPr/>
        </p:nvSpPr>
        <p:spPr>
          <a:xfrm>
            <a:off x="6080760" y="106984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080760" y="1463040"/>
            <a:ext cx="265176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050" b="1" dirty="0">
                <a:solidFill>
                  <a:srgbClr val="005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West Leads</a:t>
            </a:r>
            <a:endParaRPr lang="en-US" sz="10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$269.9M, the West region generates nearly double the Midwest — suggesting strong market maturity.</a:t>
            </a:r>
            <a:endParaRPr lang="en-US" sz="10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050" b="1" dirty="0">
                <a:solidFill>
                  <a:srgbClr val="005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Northeast 2nd</a:t>
            </a:r>
            <a:endParaRPr lang="en-US" sz="10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$186.3M. Northeast and Southeast together contribute $349.5M, nearly 39% of total revenue.</a:t>
            </a:r>
            <a:endParaRPr lang="en-US" sz="10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050" b="1" dirty="0">
                <a:solidFill>
                  <a:srgbClr val="005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Midwest Weakest</a:t>
            </a:r>
            <a:endParaRPr lang="en-US" sz="10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Midwest at $135.8M presents the clearest opportunity for targeted expansion and investment.</a:t>
            </a:r>
            <a:endParaRPr lang="en-US" sz="10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050" b="1" dirty="0">
                <a:solidFill>
                  <a:srgbClr val="005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Action</a:t>
            </a:r>
            <a:endParaRPr lang="en-US" sz="10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regional campaigns for the Midwest and South. Study West's success factors and replicate.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0" y="4956048"/>
            <a:ext cx="9144000" cy="20116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1" name="Text 8"/>
          <p:cNvSpPr/>
          <p:nvPr/>
        </p:nvSpPr>
        <p:spPr>
          <a:xfrm>
            <a:off x="274320" y="4965192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2020–2021  |  All values in USD millions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A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Retail Partner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contribution by top retail partners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051560"/>
          <a:ext cx="54864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989320" y="1051560"/>
            <a:ext cx="2834640" cy="3657600"/>
          </a:xfrm>
          <a:prstGeom prst="rect">
            <a:avLst/>
          </a:prstGeom>
          <a:solidFill>
            <a:srgbClr val="E8F4FC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989320" y="1051560"/>
            <a:ext cx="2834640" cy="347472"/>
          </a:xfrm>
          <a:prstGeom prst="rect">
            <a:avLst/>
          </a:prstGeom>
          <a:solidFill>
            <a:srgbClr val="007AC0"/>
          </a:solidFill>
          <a:ln/>
        </p:spPr>
      </p:sp>
      <p:sp>
        <p:nvSpPr>
          <p:cNvPr id="8" name="Text 5"/>
          <p:cNvSpPr/>
          <p:nvPr/>
        </p:nvSpPr>
        <p:spPr>
          <a:xfrm>
            <a:off x="6080760" y="106984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080760" y="1463040"/>
            <a:ext cx="265176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050" b="1" dirty="0">
                <a:solidFill>
                  <a:srgbClr val="005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 West Gear #1</a:t>
            </a:r>
            <a:endParaRPr lang="en-US" sz="10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$243M — the highest-grossing retail partner. A vital strategic relationship to nurture.</a:t>
            </a:r>
            <a:endParaRPr lang="en-US" sz="10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050" b="1" dirty="0">
                <a:solidFill>
                  <a:srgbClr val="005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Top 3 = 72%</a:t>
            </a:r>
            <a:endParaRPr lang="en-US" sz="10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Gear, Foot Locker, and Sports Direct generate 72% of total retail revenue.</a:t>
            </a:r>
            <a:endParaRPr lang="en-US" sz="10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050" b="1" dirty="0">
                <a:solidFill>
                  <a:srgbClr val="005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Digital Underperforms</a:t>
            </a:r>
            <a:endParaRPr lang="en-US" sz="10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at $77.7M signals underutilized digital retail. Large growth potential.</a:t>
            </a:r>
            <a:endParaRPr lang="en-US" sz="10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050" b="1" dirty="0">
                <a:solidFill>
                  <a:srgbClr val="005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Action</a:t>
            </a:r>
            <a:endParaRPr lang="en-US" sz="10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Deepen partnerships with West Gear &amp; Foot Locker. Create exclusive digital drops via Amazon.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0" y="4956048"/>
            <a:ext cx="9144000" cy="20116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1" name="Text 8"/>
          <p:cNvSpPr/>
          <p:nvPr/>
        </p:nvSpPr>
        <p:spPr>
          <a:xfrm>
            <a:off x="274320" y="4965192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2020–2021  |  All values in USD millions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A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Sales Channel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split across In-Store, Outlet, and Online channels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051560"/>
          <a:ext cx="53035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989320" y="1051560"/>
            <a:ext cx="2834640" cy="3657600"/>
          </a:xfrm>
          <a:prstGeom prst="rect">
            <a:avLst/>
          </a:prstGeom>
          <a:solidFill>
            <a:srgbClr val="E8F4FC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989320" y="1051560"/>
            <a:ext cx="2834640" cy="347472"/>
          </a:xfrm>
          <a:prstGeom prst="rect">
            <a:avLst/>
          </a:prstGeom>
          <a:solidFill>
            <a:srgbClr val="007AC0"/>
          </a:solidFill>
          <a:ln/>
        </p:spPr>
      </p:sp>
      <p:sp>
        <p:nvSpPr>
          <p:cNvPr id="8" name="Text 5"/>
          <p:cNvSpPr/>
          <p:nvPr/>
        </p:nvSpPr>
        <p:spPr>
          <a:xfrm>
            <a:off x="6080760" y="106984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080760" y="1463040"/>
            <a:ext cx="265176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050" b="1" dirty="0">
                <a:solidFill>
                  <a:srgbClr val="005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🏪 In-Store Leads</a:t>
            </a:r>
            <a:endParaRPr lang="en-US" sz="10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$356.6M (39.6%) — physical retail remains the dominant channel for Adidas consumers.</a:t>
            </a:r>
            <a:endParaRPr lang="en-US" sz="10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050" b="1" dirty="0">
                <a:solidFill>
                  <a:srgbClr val="005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🏬 Outlet is Strong</a:t>
            </a:r>
            <a:endParaRPr lang="en-US" sz="10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$295.6M (32.8%) — outlet stores add significant volume and may drive price-sensitive buyers.</a:t>
            </a:r>
            <a:endParaRPr lang="en-US" sz="10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050" b="1" dirty="0">
                <a:solidFill>
                  <a:srgbClr val="005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Online Lags</a:t>
            </a:r>
            <a:endParaRPr lang="en-US" sz="10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27.5% ($247.7M). Online is the lowest channel — clear underutilization of digital.</a:t>
            </a:r>
            <a:endParaRPr lang="en-US" sz="10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050" b="1" dirty="0">
                <a:solidFill>
                  <a:srgbClr val="005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Action</a:t>
            </a:r>
            <a:endParaRPr lang="en-US" sz="10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→ Meaning: underutilized digital. Action: Invest in e-commerce, influencer marketing, &amp; app experience.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0" y="4956048"/>
            <a:ext cx="9144000" cy="20116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1" name="Text 8"/>
          <p:cNvSpPr/>
          <p:nvPr/>
        </p:nvSpPr>
        <p:spPr>
          <a:xfrm>
            <a:off x="274320" y="4965192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2020–2021  |  All values in USD millions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A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Sales Trends Over Time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pattern reveals seasonal demand peaks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051560"/>
          <a:ext cx="54864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989320" y="1051560"/>
            <a:ext cx="2834640" cy="3657600"/>
          </a:xfrm>
          <a:prstGeom prst="rect">
            <a:avLst/>
          </a:prstGeom>
          <a:solidFill>
            <a:srgbClr val="E8F4FC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989320" y="1051560"/>
            <a:ext cx="2834640" cy="347472"/>
          </a:xfrm>
          <a:prstGeom prst="rect">
            <a:avLst/>
          </a:prstGeom>
          <a:solidFill>
            <a:srgbClr val="007AC0"/>
          </a:solidFill>
          <a:ln/>
        </p:spPr>
      </p:sp>
      <p:sp>
        <p:nvSpPr>
          <p:cNvPr id="8" name="Text 5"/>
          <p:cNvSpPr/>
          <p:nvPr/>
        </p:nvSpPr>
        <p:spPr>
          <a:xfrm>
            <a:off x="6080760" y="106984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080760" y="1463040"/>
            <a:ext cx="265176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050" b="1" dirty="0">
                <a:solidFill>
                  <a:srgbClr val="005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Q3 Peak</a:t>
            </a:r>
            <a:endParaRPr lang="en-US" sz="10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($95.5M) &amp; August ($92.2M) are the highest months — driven by back-to-school and summer sports.</a:t>
            </a:r>
            <a:endParaRPr lang="en-US" sz="10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050" b="1" dirty="0">
                <a:solidFill>
                  <a:srgbClr val="005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❄️ Q1 Dip</a:t>
            </a:r>
            <a:endParaRPr lang="en-US" sz="10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February–March sees lowest revenue. Seasonal demand softens post-holiday.</a:t>
            </a:r>
            <a:endParaRPr lang="en-US" sz="10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050" b="1" dirty="0">
                <a:solidFill>
                  <a:srgbClr val="005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🎄 Dec Rebound</a:t>
            </a:r>
            <a:endParaRPr lang="en-US" sz="10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$85.8M in December — holiday gifting creates a strong year-end recovery.</a:t>
            </a:r>
            <a:endParaRPr lang="en-US" sz="10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050" b="1" dirty="0">
                <a:solidFill>
                  <a:srgbClr val="005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Action</a:t>
            </a:r>
            <a:endParaRPr lang="en-US" sz="10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inventory surges for July–August. Launch targeted promotions in Feb–March to smooth the revenue dip.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0" y="4956048"/>
            <a:ext cx="9144000" cy="20116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1" name="Text 8"/>
          <p:cNvSpPr/>
          <p:nvPr/>
        </p:nvSpPr>
        <p:spPr>
          <a:xfrm>
            <a:off x="274320" y="4965192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2020–2021  |  Aggregated monthly across all regions and channels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A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Insights Summary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 in four data-backed findings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4114800" cy="54864"/>
          </a:xfrm>
          <a:prstGeom prst="rect">
            <a:avLst/>
          </a:prstGeom>
          <a:solidFill>
            <a:srgbClr val="007AC0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80160"/>
            <a:ext cx="457200" cy="457200"/>
          </a:xfrm>
          <a:prstGeom prst="ellipse">
            <a:avLst/>
          </a:prstGeom>
          <a:solidFill>
            <a:srgbClr val="007AC0">
              <a:alpha val="1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66344" y="1261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33272" y="12344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Footwear Dominates Revenue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664208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Men's Street Footwear alone contributes $208.8M — 23% of all revenue. Footwear is Adidas' most powerful product lever.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109728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097280"/>
            <a:ext cx="411480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Shape 11"/>
          <p:cNvSpPr/>
          <p:nvPr/>
        </p:nvSpPr>
        <p:spPr>
          <a:xfrm>
            <a:off x="4846320" y="1280160"/>
            <a:ext cx="457200" cy="457200"/>
          </a:xfrm>
          <a:prstGeom prst="ellipse">
            <a:avLst/>
          </a:prstGeom>
          <a:solidFill>
            <a:srgbClr val="059669">
              <a:alpha val="1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855464" y="1261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🌎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22392" y="12344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Region Leads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1664208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West generates $269.9M, nearly double the Midwest. Geographic concentration suggests untapped opportunity in central markets.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92608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926080"/>
            <a:ext cx="411480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108960"/>
            <a:ext cx="457200" cy="457200"/>
          </a:xfrm>
          <a:prstGeom prst="ellipse">
            <a:avLst/>
          </a:prstGeom>
          <a:solidFill>
            <a:srgbClr val="D97706">
              <a:alpha val="1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66344" y="3090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🏪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33272" y="30632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In-Store Dominates Sales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493008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retail (In-Store + Outlet) accounts for 72.4% of revenue — a signal of strong brand loyalty in-store.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09160" y="292608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2926080"/>
            <a:ext cx="41148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5" name="Shape 23"/>
          <p:cNvSpPr/>
          <p:nvPr/>
        </p:nvSpPr>
        <p:spPr>
          <a:xfrm>
            <a:off x="4846320" y="3108960"/>
            <a:ext cx="457200" cy="457200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855464" y="3090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💻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22392" y="30632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Channel Underperforms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0" y="3493008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contributes only 27.5%. Given global e-commerce growth, this is Adidas' largest untapped growth opportunity.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0" y="4956048"/>
            <a:ext cx="9144000" cy="20116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" y="4965192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Adidas Sales Analysis  |  Capstone Project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A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Strategic Recommendations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→ Meaning → Action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850392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64008" cy="804672"/>
          </a:xfrm>
          <a:prstGeom prst="rect">
            <a:avLst/>
          </a:prstGeom>
          <a:solidFill>
            <a:srgbClr val="007AC0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71016"/>
            <a:ext cx="457200" cy="457200"/>
          </a:xfrm>
          <a:prstGeom prst="ellipse">
            <a:avLst/>
          </a:prstGeom>
          <a:solidFill>
            <a:srgbClr val="007AC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71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24128" y="115214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Accelerate E-Commerce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24128" y="152704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7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Data: </a:t>
            </a:r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= 27.5% of revenue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0" y="152704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7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Meaning: </a:t>
            </a:r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channels are significantly underutilized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309360" y="152704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7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Action: </a:t>
            </a:r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app UX, influencer campaigns, and Amazon exclusives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0040" y="2011680"/>
            <a:ext cx="850392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011680"/>
            <a:ext cx="64008" cy="80467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2185416"/>
            <a:ext cx="457200" cy="45720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185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24128" y="206654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in the Midwest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24128" y="244144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Data: </a:t>
            </a:r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Midwest = lowest region ($135.8M)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657600" y="244144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Meaning: </a:t>
            </a:r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Untapped demand in central U.S. markets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309360" y="244144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Action: </a:t>
            </a:r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targeted regional campaigns and open new partner stores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0040" y="2926080"/>
            <a:ext cx="850392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2926080"/>
            <a:ext cx="64008" cy="8046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099816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099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24128" y="298094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 Women's Athletic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24128" y="335584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Data: </a:t>
            </a:r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Women's Athletic Footwear = lowest category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657600" y="335584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Meaning: </a:t>
            </a:r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gap in athletic product penetration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309360" y="335584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Action: </a:t>
            </a:r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influencer-led campaigns for women's athletic lines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0040" y="3840480"/>
            <a:ext cx="850392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3840480"/>
            <a:ext cx="64008" cy="8046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1" name="Shape 29"/>
          <p:cNvSpPr/>
          <p:nvPr/>
        </p:nvSpPr>
        <p:spPr>
          <a:xfrm>
            <a:off x="457200" y="4014216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014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24128" y="389534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Leverage Seasonal Peaks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24128" y="427024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Data: </a:t>
            </a:r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peaks at $95.5M (July)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657600" y="427024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Meaning: </a:t>
            </a:r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surges are predictable and consistent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309360" y="427024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Action: </a:t>
            </a:r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Pre-stock inventory and launch major campaigns in June–July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0" y="4956048"/>
            <a:ext cx="9144000" cy="20116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8" name="Text 36"/>
          <p:cNvSpPr/>
          <p:nvPr/>
        </p:nvSpPr>
        <p:spPr>
          <a:xfrm>
            <a:off x="274320" y="4965192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Adidas Sales Analysis  |  Capstone Project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AC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5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Adidas is performing strongly — and the data shows exactly where to grow next.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7772400" cy="585216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91056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Revenue of $899.9M with a healthy 36.9% operating margin confirms strong business fundamentals.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267712"/>
            <a:ext cx="7772400" cy="585216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30428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Footwear and the West region drive disproportionate value — protect and invest in these areas.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980944"/>
            <a:ext cx="7772400" cy="585216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017520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Online at 27.5% is the clearest growth lever. E-commerce investment will yield high returns.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694176"/>
            <a:ext cx="7772400" cy="585216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730752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Seasonal peaks in July–August are reliable — align supply chain and marketing accordingly.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80060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Questions welcome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Adidas Sales Data Analysis</dc:title>
  <dc:subject>PptxGenJS Presentation</dc:subject>
  <dc:creator>PptxGenJS</dc:creator>
  <cp:lastModifiedBy>PptxGenJS</cp:lastModifiedBy>
  <cp:revision>1</cp:revision>
  <dcterms:created xsi:type="dcterms:W3CDTF">2026-03-30T11:06:00Z</dcterms:created>
  <dcterms:modified xsi:type="dcterms:W3CDTF">2026-03-30T11:06:00Z</dcterms:modified>
</cp:coreProperties>
</file>